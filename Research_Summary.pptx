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8" r:id="rId2"/>
    <p:sldId id="279" r:id="rId3"/>
    <p:sldId id="28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2C5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78000" autoAdjust="0"/>
  </p:normalViewPr>
  <p:slideViewPr>
    <p:cSldViewPr snapToGrid="0">
      <p:cViewPr varScale="1">
        <p:scale>
          <a:sx n="89" d="100"/>
          <a:sy n="89" d="100"/>
        </p:scale>
        <p:origin x="61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3026A-857E-4E78-B2C8-8AFB981B719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3C634-0C3B-48C9-987B-ED1034C4CA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843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C634-0C3B-48C9-987B-ED1034C4CA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46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C634-0C3B-48C9-987B-ED1034C4CA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9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73C634-0C3B-48C9-987B-ED1034C4CA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91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6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40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64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8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0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24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6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9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22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90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C881-5CD6-4968-ADA4-D7F5D5D2B15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19E09-41EF-4C26-8FAE-C575EF5F89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9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69682" cy="7771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713103"/>
            <a:ext cx="10177272" cy="6400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80A6B53C-39EB-3C53-849B-F40665E4F8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564" y="94942"/>
            <a:ext cx="773952" cy="7739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17516" y="6488668"/>
            <a:ext cx="31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0647" y="94942"/>
            <a:ext cx="437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Research Summary</a:t>
            </a:r>
            <a:endParaRPr lang="zh-CN" altLang="en-US" sz="2800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5"/>
          <a:stretch/>
        </p:blipFill>
        <p:spPr>
          <a:xfrm>
            <a:off x="561042" y="1435053"/>
            <a:ext cx="5880735" cy="521238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69682" y="872257"/>
            <a:ext cx="12016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Satellite-Observed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Variations and Trends in Carbon Monoxide over Asia and Their Sensitivities to Biomass Burning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41777" y="1435053"/>
            <a:ext cx="558682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interannual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variation of the CO total column in Asia is significantly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and strongly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correlated with biomass burning. The total column of CO in Asia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presents significant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inter-annual variability, as demonstrated by a coefficient of variation (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CV) of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5.8% in the MOPITT CO total column data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 startAt="2"/>
            </a:pP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trend in total CO columns over Asia aligns with the declining trends in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fire counts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and CO emissions from fires, both within and outside Asia. From 2003 to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2017, the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MOPITT CO total column in Asia decreased at a rate of -0.58±0.15% per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year. From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2003 to 2017, the decreasing trend of the total number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of MODIS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fire count within and outside Asia decreased significantly, suggesting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that biomass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burning is one of the reasons for the decreasing trend of CO total column </a:t>
            </a:r>
            <a:r>
              <a:rPr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 Asia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especially in spring.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09591" y="5937389"/>
            <a:ext cx="376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Zhang et al.</a:t>
            </a:r>
            <a:r>
              <a: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 (2020)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5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69682" cy="7771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713103"/>
            <a:ext cx="10177272" cy="6400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80A6B53C-39EB-3C53-849B-F40665E4F8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564" y="94942"/>
            <a:ext cx="773952" cy="7739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17516" y="6488668"/>
            <a:ext cx="31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0647" y="94942"/>
            <a:ext cx="437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Research Summary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69682" y="872257"/>
            <a:ext cx="12016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Impact of strong biomass burning in Northeast China: air </a:t>
            </a:r>
            <a:r>
              <a:rPr lang="en-US" altLang="zh-C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pollution, correlations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among pollutants, and health risk </a:t>
            </a: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4"/>
          <a:srcRect l="3204" t="935" r="3091"/>
          <a:stretch/>
        </p:blipFill>
        <p:spPr>
          <a:xfrm>
            <a:off x="575521" y="2144582"/>
            <a:ext cx="1834465" cy="1843584"/>
          </a:xfrm>
          <a:prstGeom prst="rect">
            <a:avLst/>
          </a:prstGeom>
        </p:spPr>
      </p:pic>
      <p:sp>
        <p:nvSpPr>
          <p:cNvPr id="43" name="文本框 8"/>
          <p:cNvSpPr txBox="1"/>
          <p:nvPr/>
        </p:nvSpPr>
        <p:spPr>
          <a:xfrm>
            <a:off x="184531" y="1298364"/>
            <a:ext cx="2891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/>
              <a:t>Biomass Burning in </a:t>
            </a:r>
          </a:p>
          <a:p>
            <a:pPr algn="ctr"/>
            <a:r>
              <a:rPr lang="en-US" altLang="zh-CN" sz="1400" b="1" dirty="0" smtClean="0"/>
              <a:t>Northeast China (2014-2020)</a:t>
            </a:r>
            <a:endParaRPr lang="zh-CN" altLang="en-US" sz="1400" b="1" dirty="0"/>
          </a:p>
        </p:txBody>
      </p:sp>
      <p:sp>
        <p:nvSpPr>
          <p:cNvPr id="44" name="文本框 10"/>
          <p:cNvSpPr txBox="1"/>
          <p:nvPr/>
        </p:nvSpPr>
        <p:spPr>
          <a:xfrm>
            <a:off x="861137" y="1723241"/>
            <a:ext cx="194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smtClean="0"/>
              <a:t>18 cities, 121 sites</a:t>
            </a:r>
            <a:endParaRPr lang="zh-CN" altLang="en-US" sz="1400" b="1" dirty="0"/>
          </a:p>
        </p:txBody>
      </p:sp>
      <p:sp>
        <p:nvSpPr>
          <p:cNvPr id="45" name="文本框 24"/>
          <p:cNvSpPr txBox="1"/>
          <p:nvPr/>
        </p:nvSpPr>
        <p:spPr>
          <a:xfrm>
            <a:off x="504226" y="5918530"/>
            <a:ext cx="217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>
                <a:solidFill>
                  <a:srgbClr val="2C5282"/>
                </a:solidFill>
              </a:rPr>
              <a:t>841 fire-affected days</a:t>
            </a:r>
          </a:p>
          <a:p>
            <a:pPr algn="ctr"/>
            <a:r>
              <a:rPr lang="en-US" altLang="zh-CN" sz="1400" b="1" dirty="0" smtClean="0">
                <a:solidFill>
                  <a:srgbClr val="2C5282"/>
                </a:solidFill>
              </a:rPr>
              <a:t>Cropland fires: 75%</a:t>
            </a:r>
          </a:p>
        </p:txBody>
      </p:sp>
      <p:sp>
        <p:nvSpPr>
          <p:cNvPr id="46" name="文本框 25"/>
          <p:cNvSpPr txBox="1"/>
          <p:nvPr/>
        </p:nvSpPr>
        <p:spPr>
          <a:xfrm>
            <a:off x="2351178" y="1722226"/>
            <a:ext cx="430887" cy="200483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dirty="0" smtClean="0"/>
              <a:t>HYSPLIT+MODIS</a:t>
            </a:r>
            <a:endParaRPr lang="zh-CN" altLang="en-US" sz="1600" b="1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58" y="2090712"/>
            <a:ext cx="2591848" cy="1848597"/>
          </a:xfrm>
          <a:prstGeom prst="rect">
            <a:avLst/>
          </a:prstGeom>
        </p:spPr>
      </p:pic>
      <p:sp>
        <p:nvSpPr>
          <p:cNvPr id="48" name="右箭头 47"/>
          <p:cNvSpPr/>
          <p:nvPr/>
        </p:nvSpPr>
        <p:spPr>
          <a:xfrm>
            <a:off x="2780079" y="2960269"/>
            <a:ext cx="837072" cy="151421"/>
          </a:xfrm>
          <a:prstGeom prst="rightArrow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文本框 31"/>
          <p:cNvSpPr txBox="1"/>
          <p:nvPr/>
        </p:nvSpPr>
        <p:spPr>
          <a:xfrm>
            <a:off x="2676017" y="2652526"/>
            <a:ext cx="153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smtClean="0">
                <a:solidFill>
                  <a:srgbClr val="FFC000"/>
                </a:solidFill>
              </a:rPr>
              <a:t>Transport</a:t>
            </a:r>
            <a:r>
              <a:rPr lang="en-US" altLang="zh-CN" b="1" dirty="0" smtClean="0"/>
              <a:t> </a:t>
            </a:r>
            <a:endParaRPr lang="zh-CN" altLang="en-US" b="1" dirty="0"/>
          </a:p>
        </p:txBody>
      </p:sp>
      <p:sp>
        <p:nvSpPr>
          <p:cNvPr id="50" name="文本框 32"/>
          <p:cNvSpPr txBox="1"/>
          <p:nvPr/>
        </p:nvSpPr>
        <p:spPr>
          <a:xfrm>
            <a:off x="3203845" y="1751400"/>
            <a:ext cx="2891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/>
              <a:t>Impact on Air Quality</a:t>
            </a:r>
          </a:p>
        </p:txBody>
      </p:sp>
      <p:sp>
        <p:nvSpPr>
          <p:cNvPr id="51" name="右箭头 50"/>
          <p:cNvSpPr/>
          <p:nvPr/>
        </p:nvSpPr>
        <p:spPr>
          <a:xfrm>
            <a:off x="6019965" y="2924874"/>
            <a:ext cx="873112" cy="180275"/>
          </a:xfrm>
          <a:prstGeom prst="rightArrow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文本框 34"/>
          <p:cNvSpPr txBox="1"/>
          <p:nvPr/>
        </p:nvSpPr>
        <p:spPr>
          <a:xfrm>
            <a:off x="5947658" y="2651117"/>
            <a:ext cx="153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smtClean="0">
                <a:solidFill>
                  <a:srgbClr val="FFC000"/>
                </a:solidFill>
              </a:rPr>
              <a:t>Exposure</a:t>
            </a:r>
            <a:r>
              <a:rPr lang="en-US" altLang="zh-CN" b="1" dirty="0" smtClean="0"/>
              <a:t> </a:t>
            </a:r>
            <a:endParaRPr lang="zh-CN" altLang="en-US" b="1" dirty="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6"/>
          <a:srcRect l="3674"/>
          <a:stretch/>
        </p:blipFill>
        <p:spPr>
          <a:xfrm>
            <a:off x="6928327" y="2339592"/>
            <a:ext cx="1303384" cy="1364532"/>
          </a:xfrm>
          <a:prstGeom prst="rect">
            <a:avLst/>
          </a:prstGeom>
        </p:spPr>
      </p:pic>
      <p:sp>
        <p:nvSpPr>
          <p:cNvPr id="54" name="文本框 37"/>
          <p:cNvSpPr txBox="1"/>
          <p:nvPr/>
        </p:nvSpPr>
        <p:spPr>
          <a:xfrm>
            <a:off x="6337774" y="1356397"/>
            <a:ext cx="2444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/>
              <a:t>Exposure to </a:t>
            </a:r>
          </a:p>
          <a:p>
            <a:pPr algn="ctr"/>
            <a:r>
              <a:rPr lang="en-US" altLang="zh-CN" sz="1400" b="1" dirty="0" smtClean="0"/>
              <a:t>Cropland Fires</a:t>
            </a:r>
          </a:p>
          <a:p>
            <a:pPr algn="ctr"/>
            <a:r>
              <a:rPr lang="en-US" altLang="zh-CN" sz="1400" b="1" dirty="0" smtClean="0"/>
              <a:t>PM</a:t>
            </a:r>
            <a:r>
              <a:rPr lang="en-US" altLang="zh-CN" sz="1400" b="1" baseline="-25000" dirty="0" smtClean="0"/>
              <a:t>2.5</a:t>
            </a:r>
            <a:r>
              <a:rPr lang="en-US" altLang="zh-CN" sz="1400" b="1" dirty="0" smtClean="0"/>
              <a:t>, O</a:t>
            </a:r>
            <a:r>
              <a:rPr lang="en-US" altLang="zh-CN" sz="1400" b="1" baseline="-25000" dirty="0" smtClean="0"/>
              <a:t>3</a:t>
            </a:r>
            <a:r>
              <a:rPr lang="en-US" altLang="zh-CN" sz="1400" b="1" dirty="0" smtClean="0"/>
              <a:t>, and NO</a:t>
            </a:r>
            <a:r>
              <a:rPr lang="en-US" altLang="zh-CN" sz="1400" b="1" baseline="-25000" dirty="0" smtClean="0"/>
              <a:t>2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7"/>
          <a:srcRect b="33185"/>
          <a:stretch/>
        </p:blipFill>
        <p:spPr>
          <a:xfrm>
            <a:off x="9020096" y="2041386"/>
            <a:ext cx="2696665" cy="1960944"/>
          </a:xfrm>
          <a:prstGeom prst="rect">
            <a:avLst/>
          </a:prstGeom>
        </p:spPr>
      </p:pic>
      <p:sp>
        <p:nvSpPr>
          <p:cNvPr id="56" name="右箭头 55"/>
          <p:cNvSpPr/>
          <p:nvPr/>
        </p:nvSpPr>
        <p:spPr>
          <a:xfrm>
            <a:off x="8288629" y="2901243"/>
            <a:ext cx="772287" cy="203906"/>
          </a:xfrm>
          <a:prstGeom prst="rightArrow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7" name="文本框 40"/>
          <p:cNvSpPr txBox="1"/>
          <p:nvPr/>
        </p:nvSpPr>
        <p:spPr>
          <a:xfrm>
            <a:off x="8253379" y="2590937"/>
            <a:ext cx="1533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 smtClean="0">
                <a:solidFill>
                  <a:srgbClr val="FFC000"/>
                </a:solidFill>
              </a:rPr>
              <a:t>Health</a:t>
            </a:r>
            <a:r>
              <a:rPr lang="en-US" altLang="zh-CN" b="1" dirty="0" smtClean="0"/>
              <a:t> </a:t>
            </a:r>
            <a:endParaRPr lang="zh-CN" altLang="en-US" b="1" dirty="0"/>
          </a:p>
        </p:txBody>
      </p:sp>
      <p:sp>
        <p:nvSpPr>
          <p:cNvPr id="58" name="文本框 41"/>
          <p:cNvSpPr txBox="1"/>
          <p:nvPr/>
        </p:nvSpPr>
        <p:spPr>
          <a:xfrm>
            <a:off x="9060916" y="1531332"/>
            <a:ext cx="2469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/>
              <a:t>Short-term All-cause</a:t>
            </a:r>
          </a:p>
          <a:p>
            <a:pPr algn="ctr"/>
            <a:r>
              <a:rPr lang="en-US" altLang="zh-CN" sz="1400" b="1" dirty="0"/>
              <a:t>P</a:t>
            </a:r>
            <a:r>
              <a:rPr lang="en-US" altLang="zh-CN" sz="1400" b="1" dirty="0" smtClean="0"/>
              <a:t>remature </a:t>
            </a:r>
            <a:r>
              <a:rPr lang="en-US" altLang="zh-CN" sz="1400" b="1" dirty="0"/>
              <a:t>D</a:t>
            </a:r>
            <a:r>
              <a:rPr lang="en-US" altLang="zh-CN" sz="1400" b="1" dirty="0" smtClean="0"/>
              <a:t>eaths</a:t>
            </a:r>
            <a:endParaRPr lang="zh-CN" altLang="en-US" sz="1400" b="1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7"/>
          <a:srcRect l="41679" t="91456" r="3754" b="1404"/>
          <a:stretch/>
        </p:blipFill>
        <p:spPr>
          <a:xfrm>
            <a:off x="10082349" y="4334872"/>
            <a:ext cx="1471496" cy="209551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7"/>
          <a:srcRect l="6769" t="71388" r="59675"/>
          <a:stretch/>
        </p:blipFill>
        <p:spPr>
          <a:xfrm>
            <a:off x="9177474" y="4002330"/>
            <a:ext cx="904875" cy="839728"/>
          </a:xfrm>
          <a:prstGeom prst="rect">
            <a:avLst/>
          </a:prstGeom>
        </p:spPr>
      </p:pic>
      <p:sp>
        <p:nvSpPr>
          <p:cNvPr id="61" name="下箭头 60"/>
          <p:cNvSpPr/>
          <p:nvPr/>
        </p:nvSpPr>
        <p:spPr>
          <a:xfrm>
            <a:off x="4688347" y="3909731"/>
            <a:ext cx="164895" cy="542093"/>
          </a:xfrm>
          <a:prstGeom prst="downArrow">
            <a:avLst/>
          </a:prstGeom>
          <a:solidFill>
            <a:schemeClr val="tx2"/>
          </a:solidFill>
          <a:ln>
            <a:solidFill>
              <a:srgbClr val="2C5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2" name="文本框 45"/>
          <p:cNvSpPr txBox="1"/>
          <p:nvPr/>
        </p:nvSpPr>
        <p:spPr>
          <a:xfrm>
            <a:off x="2944870" y="4390822"/>
            <a:ext cx="381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smtClean="0"/>
              <a:t>Ozone Photochemistry Production </a:t>
            </a:r>
          </a:p>
          <a:p>
            <a:pPr algn="ctr"/>
            <a:r>
              <a:rPr lang="en-US" altLang="zh-CN" sz="1400" b="1" dirty="0" smtClean="0"/>
              <a:t>Fire plumes (spring &amp; fall)</a:t>
            </a:r>
            <a:endParaRPr lang="zh-CN" altLang="en-US" sz="1400" b="1" dirty="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52" y="3909731"/>
            <a:ext cx="1926734" cy="1983907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9229" y="4942149"/>
            <a:ext cx="2534675" cy="1200635"/>
          </a:xfrm>
          <a:prstGeom prst="rect">
            <a:avLst/>
          </a:prstGeom>
        </p:spPr>
      </p:pic>
      <p:sp>
        <p:nvSpPr>
          <p:cNvPr id="65" name="矩形 64"/>
          <p:cNvSpPr/>
          <p:nvPr/>
        </p:nvSpPr>
        <p:spPr>
          <a:xfrm>
            <a:off x="3519229" y="4949759"/>
            <a:ext cx="2534675" cy="1193025"/>
          </a:xfrm>
          <a:prstGeom prst="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6" name="右箭头 65"/>
          <p:cNvSpPr/>
          <p:nvPr/>
        </p:nvSpPr>
        <p:spPr>
          <a:xfrm>
            <a:off x="6120790" y="5412834"/>
            <a:ext cx="772287" cy="203906"/>
          </a:xfrm>
          <a:prstGeom prst="rightArrow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7" name="文本框 53"/>
          <p:cNvSpPr txBox="1"/>
          <p:nvPr/>
        </p:nvSpPr>
        <p:spPr>
          <a:xfrm>
            <a:off x="6893077" y="5145455"/>
            <a:ext cx="5114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400" b="1" dirty="0" smtClean="0"/>
              <a:t>Fall enhancements in air pollutants 2-3x than spring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 smtClean="0"/>
              <a:t>O</a:t>
            </a:r>
            <a:r>
              <a:rPr lang="en-US" altLang="zh-CN" sz="1400" b="1" baseline="-25000" dirty="0" smtClean="0"/>
              <a:t>3</a:t>
            </a:r>
            <a:r>
              <a:rPr lang="en-US" altLang="zh-CN" sz="1400" b="1" dirty="0" smtClean="0"/>
              <a:t> enhanced only in spring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 smtClean="0"/>
              <a:t>Low ΔO</a:t>
            </a:r>
            <a:r>
              <a:rPr lang="en-US" altLang="zh-CN" sz="1400" b="1" baseline="-25000" dirty="0" smtClean="0"/>
              <a:t>3</a:t>
            </a:r>
            <a:r>
              <a:rPr lang="en-US" altLang="zh-CN" sz="1400" b="1" dirty="0" smtClean="0"/>
              <a:t>/ΔCO ratio in cropland fires vs tropical fires </a:t>
            </a:r>
            <a:endParaRPr lang="zh-CN" altLang="en-US" sz="1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7238734" y="6142784"/>
            <a:ext cx="442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Zhang et al. (2026)     Under review </a:t>
            </a:r>
            <a:r>
              <a: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AE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35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69682" cy="7771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0" y="713103"/>
            <a:ext cx="10177272" cy="6400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80A6B53C-39EB-3C53-849B-F40665E4F8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564" y="94942"/>
            <a:ext cx="773952" cy="7739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17516" y="6488668"/>
            <a:ext cx="31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0647" y="94942"/>
            <a:ext cx="437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Research Summary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69682" y="872257"/>
            <a:ext cx="12016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Quantifying transport-induced uncertainties in global methane inversions: a multi-model evaluation using GEOS-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Chem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and TM5 constrained by surface and satellite observations.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49166" y="6013546"/>
            <a:ext cx="376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Zhang et al.</a:t>
            </a:r>
            <a:r>
              <a: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 (2026)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33" y="1618402"/>
            <a:ext cx="9284913" cy="2424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97" y="4663334"/>
            <a:ext cx="8778663" cy="21946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77641" y="4162893"/>
            <a:ext cx="7999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  <a:r>
              <a:rPr lang="fr-FR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fr-FR" altLang="zh-CN" b="1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source </a:t>
            </a:r>
            <a:r>
              <a:rPr lang="fr-FR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fr-FR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Concentration bias → Inversion bias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</TotalTime>
  <Words>326</Words>
  <Application>Microsoft Office PowerPoint</Application>
  <PresentationFormat>宽屏</PresentationFormat>
  <Paragraphs>39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>NJU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ZhangXun</dc:creator>
  <cp:lastModifiedBy>ZhangXun</cp:lastModifiedBy>
  <cp:revision>171</cp:revision>
  <dcterms:created xsi:type="dcterms:W3CDTF">2026-01-13T13:24:42Z</dcterms:created>
  <dcterms:modified xsi:type="dcterms:W3CDTF">2026-03-05T02:28:19Z</dcterms:modified>
</cp:coreProperties>
</file>